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2" r:id="rId11"/>
  </p:sldIdLst>
  <p:sldSz cx="18288000" cy="10287000"/>
  <p:notesSz cx="6858000" cy="9144000"/>
  <p:embeddedFontLst>
    <p:embeddedFont>
      <p:font typeface="Helios Condensed" panose="020B0604020202020204" charset="0"/>
      <p:regular r:id="rId12"/>
    </p:embeddedFont>
    <p:embeddedFont>
      <p:font typeface="Helios Condensed Bold" panose="020B0604020202020204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475D-63CC-C7AC-FEFB-7CD62DA7A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609600" y="114299"/>
            <a:ext cx="16459200" cy="2016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2E914-7ABE-7446-7011-C7A005E7F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11811000" cy="52197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TEAM NO</a:t>
            </a:r>
            <a:r>
              <a:rPr lang="en-US" dirty="0">
                <a:solidFill>
                  <a:schemeClr val="tx1"/>
                </a:solidFill>
              </a:rPr>
              <a:t>: 5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TOPIC : </a:t>
            </a:r>
            <a:r>
              <a:rPr lang="en-US" dirty="0">
                <a:solidFill>
                  <a:schemeClr val="tx1"/>
                </a:solidFill>
              </a:rPr>
              <a:t>TRAVEL ITINERARY OPTIMIZER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PRESENTED BY: </a:t>
            </a:r>
          </a:p>
          <a:p>
            <a:pPr algn="l"/>
            <a:r>
              <a:rPr lang="en-IN" dirty="0">
                <a:solidFill>
                  <a:schemeClr val="tx1"/>
                </a:solidFill>
              </a:rPr>
              <a:t>  A.VENNELA REDDY – 25MVCSMR0002</a:t>
            </a:r>
          </a:p>
          <a:p>
            <a:pPr algn="l"/>
            <a:r>
              <a:rPr lang="en-IN" dirty="0">
                <a:solidFill>
                  <a:schemeClr val="tx1"/>
                </a:solidFill>
              </a:rPr>
              <a:t>  B.LOHITHA REDDY – 25MVCSMR0012</a:t>
            </a:r>
          </a:p>
          <a:p>
            <a:pPr algn="l"/>
            <a:r>
              <a:rPr lang="en-IN" dirty="0">
                <a:solidFill>
                  <a:schemeClr val="tx1"/>
                </a:solidFill>
              </a:rPr>
              <a:t>  C.MEGHANA – 25MVCSMR0027</a:t>
            </a:r>
          </a:p>
          <a:p>
            <a:pPr algn="l"/>
            <a:r>
              <a:rPr lang="en-IN" dirty="0">
                <a:solidFill>
                  <a:schemeClr val="tx1"/>
                </a:solidFill>
              </a:rPr>
              <a:t>  Y.LAKSHMI SRI – 25MVCSMR0093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2CC79-D10B-5E08-E282-518D81450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154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5618" y="812021"/>
            <a:ext cx="5447606" cy="3218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28"/>
              </a:lnSpc>
            </a:pPr>
            <a:r>
              <a:rPr lang="en-US" sz="8659" b="1">
                <a:solidFill>
                  <a:srgbClr val="FFFFFF">
                    <a:alpha val="94902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TRAVEL ITINERARY OPTIMIZER: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1691" y="4072777"/>
            <a:ext cx="8840252" cy="138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3"/>
              </a:lnSpc>
            </a:pPr>
            <a:r>
              <a:rPr lang="en-US" sz="5393" b="1">
                <a:solidFill>
                  <a:srgbClr val="1AA5BF"/>
                </a:solidFill>
                <a:latin typeface="Roboto Bold"/>
                <a:ea typeface="Roboto Bold"/>
                <a:cs typeface="Roboto Bold"/>
                <a:sym typeface="Roboto Bold"/>
              </a:rPr>
              <a:t>MINIMIZING COST</a:t>
            </a:r>
          </a:p>
          <a:p>
            <a:pPr algn="l">
              <a:lnSpc>
                <a:spcPts val="5393"/>
              </a:lnSpc>
            </a:pPr>
            <a:r>
              <a:rPr lang="en-US" sz="5393" b="1">
                <a:solidFill>
                  <a:srgbClr val="1AA5BF"/>
                </a:solidFill>
                <a:latin typeface="Roboto Bold"/>
                <a:ea typeface="Roboto Bold"/>
                <a:cs typeface="Roboto Bold"/>
                <a:sym typeface="Roboto Bold"/>
              </a:rPr>
              <a:t>UNDER TIME CONSTRAINTS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5783021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06397" y="6229606"/>
            <a:ext cx="7048573" cy="89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FFFFFF">
                    <a:alpha val="89804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Optimizing multi-city travel routes to reduce cost within a maximum trip duration.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099" y="7766013"/>
            <a:ext cx="2278339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>
                <a:solidFill>
                  <a:srgbClr val="1AA5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TEAM MEMBERS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6892" y="8263150"/>
            <a:ext cx="999094" cy="1184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Alice</a:t>
            </a:r>
          </a:p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Bob</a:t>
            </a:r>
          </a:p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Charlie</a:t>
            </a:r>
          </a:p>
        </p:txBody>
      </p:sp>
      <p:sp>
        <p:nvSpPr>
          <p:cNvPr id="9" name="Freeform 9"/>
          <p:cNvSpPr/>
          <p:nvPr/>
        </p:nvSpPr>
        <p:spPr>
          <a:xfrm>
            <a:off x="3478220" y="7707051"/>
            <a:ext cx="229694" cy="1945894"/>
          </a:xfrm>
          <a:custGeom>
            <a:avLst/>
            <a:gdLst/>
            <a:ahLst/>
            <a:cxnLst/>
            <a:rect l="l" t="t" r="r" b="b"/>
            <a:pathLst>
              <a:path w="229694" h="1945894">
                <a:moveTo>
                  <a:pt x="0" y="0"/>
                </a:moveTo>
                <a:lnTo>
                  <a:pt x="229694" y="0"/>
                </a:lnTo>
                <a:lnTo>
                  <a:pt x="22969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233719" y="7766013"/>
            <a:ext cx="2574178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>
                <a:solidFill>
                  <a:srgbClr val="1AA5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PROBLEM DOMAIN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2407" y="8263150"/>
            <a:ext cx="2705441" cy="1184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Travel planning</a:t>
            </a:r>
          </a:p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Route optimization</a:t>
            </a:r>
          </a:p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Logistics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87732" y="0"/>
            <a:ext cx="9800268" cy="10287000"/>
          </a:xfrm>
          <a:custGeom>
            <a:avLst/>
            <a:gdLst/>
            <a:ahLst/>
            <a:cxnLst/>
            <a:rect l="l" t="t" r="r" b="b"/>
            <a:pathLst>
              <a:path w="9800268" h="10287000">
                <a:moveTo>
                  <a:pt x="0" y="0"/>
                </a:moveTo>
                <a:lnTo>
                  <a:pt x="9800268" y="0"/>
                </a:lnTo>
                <a:lnTo>
                  <a:pt x="9800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2414402" cy="10287000"/>
          </a:xfrm>
          <a:custGeom>
            <a:avLst/>
            <a:gdLst/>
            <a:ahLst/>
            <a:cxnLst/>
            <a:rect l="l" t="t" r="r" b="b"/>
            <a:pathLst>
              <a:path w="12414402" h="10287000">
                <a:moveTo>
                  <a:pt x="0" y="0"/>
                </a:moveTo>
                <a:lnTo>
                  <a:pt x="12414402" y="0"/>
                </a:lnTo>
                <a:lnTo>
                  <a:pt x="12414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24005" y="957524"/>
            <a:ext cx="2608898" cy="177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38"/>
              </a:lnSpc>
            </a:pPr>
            <a:r>
              <a:rPr lang="en-US" sz="12938" b="1">
                <a:solidFill>
                  <a:srgbClr val="FFFF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2115" y="2418426"/>
            <a:ext cx="7797893" cy="177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38"/>
              </a:lnSpc>
            </a:pPr>
            <a:r>
              <a:rPr lang="en-US" sz="12938" b="1">
                <a:solidFill>
                  <a:srgbClr val="28ACC3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CHALLENGE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3806" y="4421095"/>
            <a:ext cx="6307645" cy="100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Planning efficient multi-city trips that save both cost and time.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5783021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50402" y="6399601"/>
            <a:ext cx="2648085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>
                <a:solidFill>
                  <a:srgbClr val="28ACC3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KEY CHALLENGES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3431" y="7182765"/>
            <a:ext cx="7345226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Balancing cost minimization with trip duration limits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3220" y="7950868"/>
            <a:ext cx="7366236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Handling combinatorial explosion of possible routes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6640" y="8703910"/>
            <a:ext cx="7024312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Avoiding repeated visits and unnecessary detours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92354" y="1497682"/>
            <a:ext cx="12195646" cy="8581610"/>
          </a:xfrm>
          <a:custGeom>
            <a:avLst/>
            <a:gdLst/>
            <a:ahLst/>
            <a:cxnLst/>
            <a:rect l="l" t="t" r="r" b="b"/>
            <a:pathLst>
              <a:path w="12195646" h="8581610">
                <a:moveTo>
                  <a:pt x="0" y="0"/>
                </a:moveTo>
                <a:lnTo>
                  <a:pt x="12195646" y="0"/>
                </a:lnTo>
                <a:lnTo>
                  <a:pt x="12195646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5151" y="876616"/>
            <a:ext cx="2173200" cy="132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sz="9502" b="1">
                <a:solidFill>
                  <a:srgbClr val="FFFF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OUR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5328" y="2019483"/>
            <a:ext cx="6155475" cy="123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>
                <a:solidFill>
                  <a:srgbClr val="16A9C5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INNOVATION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1251" y="3383107"/>
            <a:ext cx="5920972" cy="89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 smarter way to plan multi-city trips that balances cost, time, and clarity.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4711687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94256" y="4648218"/>
            <a:ext cx="3088445" cy="44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>
                <a:solidFill>
                  <a:srgbClr val="16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Smarter optimization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141" y="5104064"/>
            <a:ext cx="4875609" cy="72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Minimizes travel cost while respecting maximum trip duration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5990729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97940" y="6018754"/>
            <a:ext cx="2720052" cy="44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>
                <a:solidFill>
                  <a:srgbClr val="16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Complete visibility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5141" y="6474601"/>
            <a:ext cx="4875609" cy="72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Shows the best route with visit order so every decision is clear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7280704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05125" y="7404352"/>
            <a:ext cx="2001598" cy="44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>
                <a:solidFill>
                  <a:srgbClr val="16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Faster results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5141" y="7845137"/>
            <a:ext cx="4152305" cy="72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Uses intelligent bounds to prune the search space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5330" y="8778386"/>
            <a:ext cx="9373694" cy="229572"/>
          </a:xfrm>
          <a:custGeom>
            <a:avLst/>
            <a:gdLst/>
            <a:ahLst/>
            <a:cxnLst/>
            <a:rect l="l" t="t" r="r" b="b"/>
            <a:pathLst>
              <a:path w="9373694" h="229572">
                <a:moveTo>
                  <a:pt x="0" y="0"/>
                </a:moveTo>
                <a:lnTo>
                  <a:pt x="9373694" y="0"/>
                </a:lnTo>
                <a:lnTo>
                  <a:pt x="9373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39502" y="9227948"/>
            <a:ext cx="9095903" cy="46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838" b="1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One integrated approach.</a:t>
            </a:r>
            <a:r>
              <a:rPr lang="en-US" sz="2838" b="1">
                <a:solidFill>
                  <a:srgbClr val="16A9C5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 Balanced speed and accuracy.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008086" y="3848060"/>
            <a:ext cx="3926670" cy="4296271"/>
          </a:xfrm>
          <a:custGeom>
            <a:avLst/>
            <a:gdLst/>
            <a:ahLst/>
            <a:cxnLst/>
            <a:rect l="l" t="t" r="r" b="b"/>
            <a:pathLst>
              <a:path w="3926670" h="4296271">
                <a:moveTo>
                  <a:pt x="0" y="0"/>
                </a:moveTo>
                <a:lnTo>
                  <a:pt x="3926670" y="0"/>
                </a:lnTo>
                <a:lnTo>
                  <a:pt x="3926670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555309" y="4181548"/>
            <a:ext cx="668425" cy="45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sz="2772" b="1">
                <a:solidFill>
                  <a:srgbClr val="16A9C5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TSP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1979" y="4672941"/>
            <a:ext cx="2095085" cy="3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global route model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747196" y="513803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310101" y="5642435"/>
            <a:ext cx="3047751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>
                <a:solidFill>
                  <a:srgbClr val="16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Dynamic Programming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09414" y="6073669"/>
            <a:ext cx="3160215" cy="3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efficient subproblem solving</a:t>
            </a:r>
          </a:p>
        </p:txBody>
      </p:sp>
      <p:sp>
        <p:nvSpPr>
          <p:cNvPr id="24" name="Freeform 24"/>
          <p:cNvSpPr/>
          <p:nvPr/>
        </p:nvSpPr>
        <p:spPr>
          <a:xfrm>
            <a:off x="11747196" y="6428009"/>
            <a:ext cx="448450" cy="644987"/>
          </a:xfrm>
          <a:custGeom>
            <a:avLst/>
            <a:gdLst/>
            <a:ahLst/>
            <a:cxnLst/>
            <a:rect l="l" t="t" r="r" b="b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669863" y="6997910"/>
            <a:ext cx="2439318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2575" b="1">
                <a:solidFill>
                  <a:srgbClr val="16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Branch and Bound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27383" y="7444136"/>
            <a:ext cx="2924277" cy="3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prunes unpromising paths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278488" y="634055"/>
            <a:ext cx="1093780" cy="1727254"/>
          </a:xfrm>
          <a:custGeom>
            <a:avLst/>
            <a:gdLst/>
            <a:ahLst/>
            <a:cxnLst/>
            <a:rect l="l" t="t" r="r" b="b"/>
            <a:pathLst>
              <a:path w="1093780" h="1727254">
                <a:moveTo>
                  <a:pt x="0" y="0"/>
                </a:moveTo>
                <a:lnTo>
                  <a:pt x="1093780" y="0"/>
                </a:lnTo>
                <a:lnTo>
                  <a:pt x="109378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144000" y="1924030"/>
            <a:ext cx="1093780" cy="1727254"/>
          </a:xfrm>
          <a:custGeom>
            <a:avLst/>
            <a:gdLst/>
            <a:ahLst/>
            <a:cxnLst/>
            <a:rect l="l" t="t" r="r" b="b"/>
            <a:pathLst>
              <a:path w="1093780" h="1727254">
                <a:moveTo>
                  <a:pt x="0" y="0"/>
                </a:moveTo>
                <a:lnTo>
                  <a:pt x="1093780" y="0"/>
                </a:lnTo>
                <a:lnTo>
                  <a:pt x="109378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393952" y="4711687"/>
            <a:ext cx="1323474" cy="1934962"/>
          </a:xfrm>
          <a:custGeom>
            <a:avLst/>
            <a:gdLst/>
            <a:ahLst/>
            <a:cxnLst/>
            <a:rect l="l" t="t" r="r" b="b"/>
            <a:pathLst>
              <a:path w="1323474" h="1934962">
                <a:moveTo>
                  <a:pt x="0" y="0"/>
                </a:moveTo>
                <a:lnTo>
                  <a:pt x="1323474" y="0"/>
                </a:lnTo>
                <a:lnTo>
                  <a:pt x="132347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673866" y="3214004"/>
            <a:ext cx="1093780" cy="1934962"/>
          </a:xfrm>
          <a:custGeom>
            <a:avLst/>
            <a:gdLst/>
            <a:ahLst/>
            <a:cxnLst/>
            <a:rect l="l" t="t" r="r" b="b"/>
            <a:pathLst>
              <a:path w="1093780" h="1934962">
                <a:moveTo>
                  <a:pt x="0" y="0"/>
                </a:moveTo>
                <a:lnTo>
                  <a:pt x="1093780" y="0"/>
                </a:lnTo>
                <a:lnTo>
                  <a:pt x="109378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716000" y="6854356"/>
            <a:ext cx="1312536" cy="1934962"/>
          </a:xfrm>
          <a:custGeom>
            <a:avLst/>
            <a:gdLst/>
            <a:ahLst/>
            <a:cxnLst/>
            <a:rect l="l" t="t" r="r" b="b"/>
            <a:pathLst>
              <a:path w="1312536" h="1934962">
                <a:moveTo>
                  <a:pt x="0" y="0"/>
                </a:moveTo>
                <a:lnTo>
                  <a:pt x="1312536" y="0"/>
                </a:lnTo>
                <a:lnTo>
                  <a:pt x="131253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6139043" y="4000754"/>
            <a:ext cx="152216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01239" y="1410289"/>
            <a:ext cx="152216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22145" y="2630218"/>
            <a:ext cx="152216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1590" y="5431534"/>
            <a:ext cx="152216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317387" y="7645478"/>
            <a:ext cx="152216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8474" y="653417"/>
            <a:ext cx="5483076" cy="249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0"/>
              </a:lnSpc>
            </a:pPr>
            <a:r>
              <a:rPr lang="en-US" sz="10362" b="1">
                <a:solidFill>
                  <a:srgbClr val="FAFAFA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HOW</a:t>
            </a:r>
          </a:p>
          <a:p>
            <a:pPr algn="l">
              <a:lnSpc>
                <a:spcPts val="9330"/>
              </a:lnSpc>
            </a:pPr>
            <a:r>
              <a:rPr lang="en-US" sz="10362" b="1">
                <a:solidFill>
                  <a:srgbClr val="22A9C5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IT WORKS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214004"/>
            <a:ext cx="4145426" cy="4296271"/>
          </a:xfrm>
          <a:custGeom>
            <a:avLst/>
            <a:gdLst/>
            <a:ahLst/>
            <a:cxnLst/>
            <a:rect l="l" t="t" r="r" b="b"/>
            <a:pathLst>
              <a:path w="4145426" h="4296271">
                <a:moveTo>
                  <a:pt x="0" y="0"/>
                </a:moveTo>
                <a:lnTo>
                  <a:pt x="4145426" y="0"/>
                </a:lnTo>
                <a:lnTo>
                  <a:pt x="414542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14156" y="3481082"/>
            <a:ext cx="1098447" cy="128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7646" b="1" spc="-74">
                <a:solidFill>
                  <a:srgbClr val="22A9C5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2077" y="4682544"/>
            <a:ext cx="985304" cy="48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2909" b="1" spc="-28">
                <a:solidFill>
                  <a:srgbClr val="22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INPUT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8733" y="5346607"/>
            <a:ext cx="2319680" cy="128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User enters cities,</a:t>
            </a:r>
          </a:p>
          <a:p>
            <a:pPr algn="l">
              <a:lnSpc>
                <a:spcPts val="3475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max trip duration,</a:t>
            </a:r>
          </a:p>
          <a:p>
            <a:pPr algn="l">
              <a:lnSpc>
                <a:spcPts val="3475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and travel costs</a:t>
            </a:r>
          </a:p>
        </p:txBody>
      </p:sp>
      <p:sp>
        <p:nvSpPr>
          <p:cNvPr id="8" name="Freeform 8"/>
          <p:cNvSpPr/>
          <p:nvPr/>
        </p:nvSpPr>
        <p:spPr>
          <a:xfrm>
            <a:off x="3915732" y="3848060"/>
            <a:ext cx="1312536" cy="655919"/>
          </a:xfrm>
          <a:custGeom>
            <a:avLst/>
            <a:gdLst/>
            <a:ahLst/>
            <a:cxnLst/>
            <a:rect l="l" t="t" r="r" b="b"/>
            <a:pathLst>
              <a:path w="1312536" h="655919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98574" y="3214004"/>
            <a:ext cx="3937608" cy="4296271"/>
          </a:xfrm>
          <a:custGeom>
            <a:avLst/>
            <a:gdLst/>
            <a:ahLst/>
            <a:cxnLst/>
            <a:rect l="l" t="t" r="r" b="b"/>
            <a:pathLst>
              <a:path w="3937608" h="4296271">
                <a:moveTo>
                  <a:pt x="0" y="0"/>
                </a:moveTo>
                <a:lnTo>
                  <a:pt x="3937608" y="0"/>
                </a:lnTo>
                <a:lnTo>
                  <a:pt x="393760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53984" y="3481082"/>
            <a:ext cx="1098447" cy="128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7646" b="1" spc="-74">
                <a:solidFill>
                  <a:srgbClr val="22A9C5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44468" y="4682544"/>
            <a:ext cx="2050121" cy="48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2909" b="1" spc="-28">
                <a:solidFill>
                  <a:srgbClr val="22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7980" y="5346607"/>
            <a:ext cx="2698879" cy="128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Data structured as graph with distances and constraints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50220" y="3848060"/>
            <a:ext cx="1531292" cy="655919"/>
          </a:xfrm>
          <a:custGeom>
            <a:avLst/>
            <a:gdLst/>
            <a:ahLst/>
            <a:cxnLst/>
            <a:rect l="l" t="t" r="r" b="b"/>
            <a:pathLst>
              <a:path w="1531292" h="655919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144000" y="3214004"/>
            <a:ext cx="4145426" cy="4296271"/>
          </a:xfrm>
          <a:custGeom>
            <a:avLst/>
            <a:gdLst/>
            <a:ahLst/>
            <a:cxnLst/>
            <a:rect l="l" t="t" r="r" b="b"/>
            <a:pathLst>
              <a:path w="4145426" h="4296271">
                <a:moveTo>
                  <a:pt x="0" y="0"/>
                </a:moveTo>
                <a:lnTo>
                  <a:pt x="4145426" y="0"/>
                </a:lnTo>
                <a:lnTo>
                  <a:pt x="414542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713445" y="3481082"/>
            <a:ext cx="1098447" cy="128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7646" b="1" spc="-74">
                <a:solidFill>
                  <a:srgbClr val="22A9C5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31977" y="4682544"/>
            <a:ext cx="1924163" cy="48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2909" b="1" spc="-28">
                <a:solidFill>
                  <a:srgbClr val="22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ALGORITHM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22465" y="5346607"/>
            <a:ext cx="2875379" cy="171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TSP modeled problem solved via Dynamic Programming and Branch and Bound</a:t>
            </a:r>
          </a:p>
        </p:txBody>
      </p:sp>
      <p:sp>
        <p:nvSpPr>
          <p:cNvPr id="18" name="Freeform 18"/>
          <p:cNvSpPr/>
          <p:nvPr/>
        </p:nvSpPr>
        <p:spPr>
          <a:xfrm>
            <a:off x="12403464" y="3848060"/>
            <a:ext cx="1531292" cy="655919"/>
          </a:xfrm>
          <a:custGeom>
            <a:avLst/>
            <a:gdLst/>
            <a:ahLst/>
            <a:cxnLst/>
            <a:rect l="l" t="t" r="r" b="b"/>
            <a:pathLst>
              <a:path w="1531292" h="655919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497244" y="3214004"/>
            <a:ext cx="4145426" cy="4296271"/>
          </a:xfrm>
          <a:custGeom>
            <a:avLst/>
            <a:gdLst/>
            <a:ahLst/>
            <a:cxnLst/>
            <a:rect l="l" t="t" r="r" b="b"/>
            <a:pathLst>
              <a:path w="4145426" h="4296271">
                <a:moveTo>
                  <a:pt x="0" y="0"/>
                </a:moveTo>
                <a:lnTo>
                  <a:pt x="4145426" y="0"/>
                </a:lnTo>
                <a:lnTo>
                  <a:pt x="414542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026484" y="3481082"/>
            <a:ext cx="1098447" cy="128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7646" b="1" spc="-74">
                <a:solidFill>
                  <a:srgbClr val="22A9C5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24386" y="4682544"/>
            <a:ext cx="1308324" cy="48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2909" b="1" spc="-28">
                <a:solidFill>
                  <a:srgbClr val="22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OUTPUT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06663" y="5346965"/>
            <a:ext cx="3080587" cy="133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623" spc="-25">
                <a:solidFill>
                  <a:srgbClr val="FFFFFF">
                    <a:alpha val="84706"/>
                  </a:srgbClr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Optimized itinerary with visit sequence, cost, and duration displayed</a:t>
            </a:r>
          </a:p>
        </p:txBody>
      </p:sp>
      <p:sp>
        <p:nvSpPr>
          <p:cNvPr id="23" name="Freeform 23"/>
          <p:cNvSpPr/>
          <p:nvPr/>
        </p:nvSpPr>
        <p:spPr>
          <a:xfrm>
            <a:off x="645330" y="7707051"/>
            <a:ext cx="16997340" cy="229572"/>
          </a:xfrm>
          <a:custGeom>
            <a:avLst/>
            <a:gdLst/>
            <a:ahLst/>
            <a:cxnLst/>
            <a:rect l="l" t="t" r="r" b="b"/>
            <a:pathLst>
              <a:path w="16997340" h="229572">
                <a:moveTo>
                  <a:pt x="0" y="0"/>
                </a:moveTo>
                <a:lnTo>
                  <a:pt x="16997340" y="0"/>
                </a:lnTo>
                <a:lnTo>
                  <a:pt x="16997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35747" y="8079937"/>
            <a:ext cx="1434700" cy="93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781" b="1" spc="-27">
                <a:solidFill>
                  <a:srgbClr val="22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USER</a:t>
            </a:r>
          </a:p>
          <a:p>
            <a:pPr algn="l">
              <a:lnSpc>
                <a:spcPts val="3754"/>
              </a:lnSpc>
            </a:pPr>
            <a:r>
              <a:rPr lang="en-US" sz="2781" b="1" spc="-27">
                <a:solidFill>
                  <a:srgbClr val="22A9C5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JOURNEY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43149" y="8062868"/>
            <a:ext cx="731974" cy="46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b="1" spc="-26">
                <a:solidFill>
                  <a:srgbClr val="FFFFFF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Input</a:t>
            </a:r>
          </a:p>
        </p:txBody>
      </p:sp>
      <p:sp>
        <p:nvSpPr>
          <p:cNvPr id="26" name="Freeform 26"/>
          <p:cNvSpPr/>
          <p:nvPr/>
        </p:nvSpPr>
        <p:spPr>
          <a:xfrm>
            <a:off x="5436086" y="8133399"/>
            <a:ext cx="1104718" cy="448211"/>
          </a:xfrm>
          <a:custGeom>
            <a:avLst/>
            <a:gdLst/>
            <a:ahLst/>
            <a:cxnLst/>
            <a:rect l="l" t="t" r="r" b="b"/>
            <a:pathLst>
              <a:path w="1104718" h="448211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6786175" y="8062868"/>
            <a:ext cx="1824687" cy="46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b="1" spc="-26">
                <a:solidFill>
                  <a:srgbClr val="FFFFFF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Optimization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04422" y="8645706"/>
            <a:ext cx="3080742" cy="7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Run algorithm to find</a:t>
            </a:r>
          </a:p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best route</a:t>
            </a:r>
          </a:p>
        </p:txBody>
      </p:sp>
      <p:sp>
        <p:nvSpPr>
          <p:cNvPr id="29" name="Freeform 29"/>
          <p:cNvSpPr/>
          <p:nvPr/>
        </p:nvSpPr>
        <p:spPr>
          <a:xfrm>
            <a:off x="9351818" y="8133399"/>
            <a:ext cx="1104718" cy="448211"/>
          </a:xfrm>
          <a:custGeom>
            <a:avLst/>
            <a:gdLst/>
            <a:ahLst/>
            <a:cxnLst/>
            <a:rect l="l" t="t" r="r" b="b"/>
            <a:pathLst>
              <a:path w="1104718" h="448211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778792" y="8062868"/>
            <a:ext cx="1720042" cy="46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b="1" spc="-26">
                <a:solidFill>
                  <a:srgbClr val="FFFFFF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Visual route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95992" y="8645706"/>
            <a:ext cx="3080742" cy="7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See optimized</a:t>
            </a:r>
          </a:p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itinerary map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059732" y="8133399"/>
            <a:ext cx="1093780" cy="448211"/>
          </a:xfrm>
          <a:custGeom>
            <a:avLst/>
            <a:gdLst/>
            <a:ahLst/>
            <a:cxnLst/>
            <a:rect l="l" t="t" r="r" b="b"/>
            <a:pathLst>
              <a:path w="1093780" h="448211">
                <a:moveTo>
                  <a:pt x="0" y="0"/>
                </a:moveTo>
                <a:lnTo>
                  <a:pt x="1093780" y="0"/>
                </a:lnTo>
                <a:lnTo>
                  <a:pt x="109378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4361678" y="8062868"/>
            <a:ext cx="2404856" cy="46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b="1" spc="-26">
                <a:solidFill>
                  <a:srgbClr val="FFFFFF">
                    <a:alpha val="84706"/>
                  </a:srgbClr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Decision support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385727" y="8645706"/>
            <a:ext cx="3080742" cy="7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Make smarter travel decisions</a:t>
            </a:r>
          </a:p>
        </p:txBody>
      </p:sp>
      <p:sp>
        <p:nvSpPr>
          <p:cNvPr id="35" name="Freeform 35"/>
          <p:cNvSpPr/>
          <p:nvPr/>
        </p:nvSpPr>
        <p:spPr>
          <a:xfrm>
            <a:off x="645330" y="9642013"/>
            <a:ext cx="16997340" cy="218640"/>
          </a:xfrm>
          <a:custGeom>
            <a:avLst/>
            <a:gdLst/>
            <a:ahLst/>
            <a:cxnLst/>
            <a:rect l="l" t="t" r="r" b="b"/>
            <a:pathLst>
              <a:path w="16997340" h="218640">
                <a:moveTo>
                  <a:pt x="0" y="0"/>
                </a:moveTo>
                <a:lnTo>
                  <a:pt x="16997340" y="0"/>
                </a:lnTo>
                <a:lnTo>
                  <a:pt x="16997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3750469" y="8645706"/>
            <a:ext cx="3080742" cy="7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Provide trip</a:t>
            </a:r>
          </a:p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0336" y="511866"/>
            <a:ext cx="7012466" cy="218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28"/>
              </a:lnSpc>
            </a:pPr>
            <a:r>
              <a:rPr lang="en-US" sz="8659" b="1" spc="-173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TECHNOLOGY &amp; </a:t>
            </a:r>
            <a:r>
              <a:rPr lang="en-US" sz="8659" b="1" spc="-173">
                <a:solidFill>
                  <a:srgbClr val="1CA1C2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027" y="2694634"/>
            <a:ext cx="8843410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55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The right stack and algorithms to find better multi-city itineraries.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3848060"/>
            <a:ext cx="5239206" cy="6012593"/>
          </a:xfrm>
          <a:custGeom>
            <a:avLst/>
            <a:gdLst/>
            <a:ahLst/>
            <a:cxnLst/>
            <a:rect l="l" t="t" r="r" b="b"/>
            <a:pathLst>
              <a:path w="5239206" h="6012593">
                <a:moveTo>
                  <a:pt x="0" y="0"/>
                </a:moveTo>
                <a:lnTo>
                  <a:pt x="5239206" y="0"/>
                </a:lnTo>
                <a:lnTo>
                  <a:pt x="5239206" y="6012592"/>
                </a:lnTo>
                <a:lnTo>
                  <a:pt x="0" y="6012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97306" y="4430019"/>
            <a:ext cx="1554575" cy="91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 spc="-41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Python</a:t>
            </a:r>
          </a:p>
          <a:p>
            <a:pPr algn="l">
              <a:lnSpc>
                <a:spcPts val="2489"/>
              </a:lnSpc>
            </a:pPr>
            <a:r>
              <a:rPr lang="en-US" sz="2074" spc="-41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algorithms and</a:t>
            </a:r>
          </a:p>
          <a:p>
            <a:pPr algn="l">
              <a:lnSpc>
                <a:spcPts val="2489"/>
              </a:lnSpc>
            </a:pPr>
            <a:r>
              <a:rPr lang="en-US" sz="2074" spc="-41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data processing</a:t>
            </a:r>
          </a:p>
        </p:txBody>
      </p:sp>
      <p:sp>
        <p:nvSpPr>
          <p:cNvPr id="7" name="Freeform 7"/>
          <p:cNvSpPr/>
          <p:nvPr/>
        </p:nvSpPr>
        <p:spPr>
          <a:xfrm>
            <a:off x="1082842" y="5564382"/>
            <a:ext cx="4364182" cy="229572"/>
          </a:xfrm>
          <a:custGeom>
            <a:avLst/>
            <a:gdLst/>
            <a:ahLst/>
            <a:cxnLst/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99520" y="6207198"/>
            <a:ext cx="1333193" cy="91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 spc="-41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React</a:t>
            </a:r>
          </a:p>
          <a:p>
            <a:pPr algn="l">
              <a:lnSpc>
                <a:spcPts val="2489"/>
              </a:lnSpc>
            </a:pPr>
            <a:r>
              <a:rPr lang="en-US" sz="2074" spc="-41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interactive</a:t>
            </a:r>
          </a:p>
          <a:p>
            <a:pPr algn="l">
              <a:lnSpc>
                <a:spcPts val="2489"/>
              </a:lnSpc>
            </a:pPr>
            <a:r>
              <a:rPr lang="en-US" sz="2074" spc="-41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user interface</a:t>
            </a:r>
          </a:p>
        </p:txBody>
      </p:sp>
      <p:sp>
        <p:nvSpPr>
          <p:cNvPr id="9" name="Freeform 9"/>
          <p:cNvSpPr/>
          <p:nvPr/>
        </p:nvSpPr>
        <p:spPr>
          <a:xfrm>
            <a:off x="1082842" y="7499343"/>
            <a:ext cx="4364182" cy="218640"/>
          </a:xfrm>
          <a:custGeom>
            <a:avLst/>
            <a:gdLst/>
            <a:ahLst/>
            <a:cxnLst/>
            <a:rect l="l" t="t" r="r" b="b"/>
            <a:pathLst>
              <a:path w="4364182" h="218640">
                <a:moveTo>
                  <a:pt x="0" y="0"/>
                </a:moveTo>
                <a:lnTo>
                  <a:pt x="4364182" y="0"/>
                </a:lnTo>
                <a:lnTo>
                  <a:pt x="436418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88977" y="8044621"/>
            <a:ext cx="2387431" cy="91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 spc="-41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Flask</a:t>
            </a:r>
          </a:p>
          <a:p>
            <a:pPr algn="l">
              <a:lnSpc>
                <a:spcPts val="2489"/>
              </a:lnSpc>
            </a:pPr>
            <a:r>
              <a:rPr lang="en-US" sz="2074" spc="-41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communication between</a:t>
            </a:r>
          </a:p>
          <a:p>
            <a:pPr algn="l">
              <a:lnSpc>
                <a:spcPts val="2489"/>
              </a:lnSpc>
            </a:pPr>
            <a:r>
              <a:rPr lang="en-US" sz="2074" spc="-41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frontend and 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49008" y="3420454"/>
            <a:ext cx="2893219" cy="30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2055" b="1" spc="-41">
                <a:solidFill>
                  <a:srgbClr val="1CA1C2"/>
                </a:solidFill>
                <a:latin typeface="Roboto Bold"/>
                <a:ea typeface="Roboto Bold"/>
                <a:cs typeface="Roboto Bold"/>
                <a:sym typeface="Roboto Bold"/>
              </a:rPr>
              <a:t>ALGORITHM APPROACH</a:t>
            </a:r>
          </a:p>
        </p:txBody>
      </p:sp>
      <p:sp>
        <p:nvSpPr>
          <p:cNvPr id="12" name="Freeform 12"/>
          <p:cNvSpPr/>
          <p:nvPr/>
        </p:nvSpPr>
        <p:spPr>
          <a:xfrm>
            <a:off x="6311110" y="3848060"/>
            <a:ext cx="5447024" cy="1727254"/>
          </a:xfrm>
          <a:custGeom>
            <a:avLst/>
            <a:gdLst/>
            <a:ahLst/>
            <a:cxnLst/>
            <a:rect l="l" t="t" r="r" b="b"/>
            <a:pathLst>
              <a:path w="5447024" h="1727254">
                <a:moveTo>
                  <a:pt x="0" y="0"/>
                </a:moveTo>
                <a:lnTo>
                  <a:pt x="5447024" y="0"/>
                </a:lnTo>
                <a:lnTo>
                  <a:pt x="544702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570220" y="4426630"/>
            <a:ext cx="213909" cy="518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0"/>
              </a:lnSpc>
            </a:pPr>
            <a:r>
              <a:rPr lang="en-US" sz="3291" b="1" spc="-65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2954" y="4170637"/>
            <a:ext cx="3367121" cy="102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2232" b="1" spc="-44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Traveling Salesperson</a:t>
            </a:r>
          </a:p>
          <a:p>
            <a:pPr algn="l">
              <a:lnSpc>
                <a:spcPts val="2679"/>
              </a:lnSpc>
            </a:pPr>
            <a:r>
              <a:rPr lang="en-US" sz="2232" b="1" spc="-44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Problem (TSP)</a:t>
            </a:r>
          </a:p>
          <a:p>
            <a:pPr algn="l">
              <a:lnSpc>
                <a:spcPts val="2679"/>
              </a:lnSpc>
            </a:pPr>
            <a:r>
              <a:rPr lang="en-US" sz="2232" spc="-44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formulation for route sequencing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8925244" y="5356674"/>
            <a:ext cx="437512" cy="644987"/>
          </a:xfrm>
          <a:custGeom>
            <a:avLst/>
            <a:gdLst/>
            <a:ahLst/>
            <a:cxnLst/>
            <a:rect l="l" t="t" r="r" b="b"/>
            <a:pathLst>
              <a:path w="437512" h="644987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311110" y="5783021"/>
            <a:ext cx="5447024" cy="1727254"/>
          </a:xfrm>
          <a:custGeom>
            <a:avLst/>
            <a:gdLst/>
            <a:ahLst/>
            <a:cxnLst/>
            <a:rect l="l" t="t" r="r" b="b"/>
            <a:pathLst>
              <a:path w="5447024" h="1727254">
                <a:moveTo>
                  <a:pt x="0" y="0"/>
                </a:moveTo>
                <a:lnTo>
                  <a:pt x="5447024" y="0"/>
                </a:lnTo>
                <a:lnTo>
                  <a:pt x="544702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251639" y="6074438"/>
            <a:ext cx="3498561" cy="102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4" b="1" spc="-46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Dynamic Programming</a:t>
            </a:r>
          </a:p>
          <a:p>
            <a:pPr algn="l">
              <a:lnSpc>
                <a:spcPts val="2790"/>
              </a:lnSpc>
            </a:pPr>
            <a:r>
              <a:rPr lang="en-US" sz="2324" spc="-46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solves overlapping subproblems</a:t>
            </a:r>
          </a:p>
          <a:p>
            <a:pPr algn="l">
              <a:lnSpc>
                <a:spcPts val="2790"/>
              </a:lnSpc>
            </a:pPr>
            <a:r>
              <a:rPr lang="en-US" sz="2324" spc="-46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efficiently</a:t>
            </a:r>
          </a:p>
        </p:txBody>
      </p:sp>
      <p:sp>
        <p:nvSpPr>
          <p:cNvPr id="18" name="Freeform 18"/>
          <p:cNvSpPr/>
          <p:nvPr/>
        </p:nvSpPr>
        <p:spPr>
          <a:xfrm>
            <a:off x="8925244" y="7280704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311110" y="7707051"/>
            <a:ext cx="5447024" cy="1727254"/>
          </a:xfrm>
          <a:custGeom>
            <a:avLst/>
            <a:gdLst/>
            <a:ahLst/>
            <a:cxnLst/>
            <a:rect l="l" t="t" r="r" b="b"/>
            <a:pathLst>
              <a:path w="5447024" h="1727254">
                <a:moveTo>
                  <a:pt x="0" y="0"/>
                </a:moveTo>
                <a:lnTo>
                  <a:pt x="5447024" y="0"/>
                </a:lnTo>
                <a:lnTo>
                  <a:pt x="544702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257193" y="8013897"/>
            <a:ext cx="2943233" cy="98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179" b="1" spc="-43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Branch and Bound</a:t>
            </a:r>
          </a:p>
          <a:p>
            <a:pPr algn="l">
              <a:lnSpc>
                <a:spcPts val="2616"/>
              </a:lnSpc>
            </a:pPr>
            <a:r>
              <a:rPr lang="en-US" sz="2179" spc="-43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prunes non-promising routes</a:t>
            </a:r>
          </a:p>
          <a:p>
            <a:pPr algn="l">
              <a:lnSpc>
                <a:spcPts val="2616"/>
              </a:lnSpc>
            </a:pPr>
            <a:r>
              <a:rPr lang="en-US" sz="2179" spc="-43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to reduce computation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83703" y="3402006"/>
            <a:ext cx="2893219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1CA1C2"/>
                </a:solidFill>
                <a:latin typeface="Roboto Bold"/>
                <a:ea typeface="Roboto Bold"/>
                <a:cs typeface="Roboto Bold"/>
                <a:sym typeface="Roboto Bold"/>
              </a:rPr>
              <a:t>WHY THIS APPROACH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52239" y="4014451"/>
            <a:ext cx="3146407" cy="93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 b="1" spc="-40">
                <a:solidFill>
                  <a:srgbClr val="1CA1C2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Rapid development</a:t>
            </a:r>
          </a:p>
          <a:p>
            <a:pPr algn="l">
              <a:lnSpc>
                <a:spcPts val="2447"/>
              </a:lnSpc>
            </a:pPr>
            <a:r>
              <a:rPr lang="en-US" sz="2039" spc="-40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Python enables fast prototyping</a:t>
            </a:r>
          </a:p>
          <a:p>
            <a:pPr algn="l">
              <a:lnSpc>
                <a:spcPts val="2447"/>
              </a:lnSpc>
            </a:pPr>
            <a:r>
              <a:rPr lang="en-US" sz="2039" spc="-40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with rich libraries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403464" y="4919394"/>
            <a:ext cx="4801694" cy="448211"/>
          </a:xfrm>
          <a:custGeom>
            <a:avLst/>
            <a:gdLst/>
            <a:ahLst/>
            <a:cxnLst/>
            <a:rect l="l" t="t" r="r" b="b"/>
            <a:pathLst>
              <a:path w="4801694" h="448211">
                <a:moveTo>
                  <a:pt x="0" y="0"/>
                </a:moveTo>
                <a:lnTo>
                  <a:pt x="4801694" y="0"/>
                </a:lnTo>
                <a:lnTo>
                  <a:pt x="480169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456737" y="5324744"/>
            <a:ext cx="2696661" cy="93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 b="1" spc="-40">
                <a:solidFill>
                  <a:srgbClr val="1CA1C2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Seamless experience</a:t>
            </a:r>
          </a:p>
          <a:p>
            <a:pPr algn="l">
              <a:lnSpc>
                <a:spcPts val="2447"/>
              </a:lnSpc>
            </a:pPr>
            <a:r>
              <a:rPr lang="en-US" sz="2039" spc="-40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React delivers a responsive</a:t>
            </a:r>
          </a:p>
          <a:p>
            <a:pPr algn="l">
              <a:lnSpc>
                <a:spcPts val="2447"/>
              </a:lnSpc>
            </a:pPr>
            <a:r>
              <a:rPr lang="en-US" sz="2039" spc="-40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and interactive interface</a:t>
            </a:r>
          </a:p>
        </p:txBody>
      </p:sp>
      <p:sp>
        <p:nvSpPr>
          <p:cNvPr id="25" name="Freeform 25"/>
          <p:cNvSpPr/>
          <p:nvPr/>
        </p:nvSpPr>
        <p:spPr>
          <a:xfrm>
            <a:off x="12403464" y="6428009"/>
            <a:ext cx="4801694" cy="218640"/>
          </a:xfrm>
          <a:custGeom>
            <a:avLst/>
            <a:gdLst/>
            <a:ahLst/>
            <a:cxnLst/>
            <a:rect l="l" t="t" r="r" b="b"/>
            <a:pathLst>
              <a:path w="4801694" h="218640">
                <a:moveTo>
                  <a:pt x="0" y="0"/>
                </a:moveTo>
                <a:lnTo>
                  <a:pt x="4801694" y="0"/>
                </a:lnTo>
                <a:lnTo>
                  <a:pt x="4801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454273" y="6635038"/>
            <a:ext cx="2942974" cy="93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 b="1" spc="-40">
                <a:solidFill>
                  <a:srgbClr val="1CA1C2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Lightweight and efficient</a:t>
            </a:r>
          </a:p>
          <a:p>
            <a:pPr algn="l">
              <a:lnSpc>
                <a:spcPts val="2447"/>
              </a:lnSpc>
            </a:pPr>
            <a:r>
              <a:rPr lang="en-US" sz="2039" spc="-40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Flask keeps backend services</a:t>
            </a:r>
          </a:p>
          <a:p>
            <a:pPr algn="l">
              <a:lnSpc>
                <a:spcPts val="2447"/>
              </a:lnSpc>
            </a:pPr>
            <a:r>
              <a:rPr lang="en-US" sz="2039" spc="-40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simple and reliable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965952" y="7707051"/>
            <a:ext cx="5676718" cy="2153601"/>
          </a:xfrm>
          <a:custGeom>
            <a:avLst/>
            <a:gdLst/>
            <a:ahLst/>
            <a:cxnLst/>
            <a:rect l="l" t="t" r="r" b="b"/>
            <a:pathLst>
              <a:path w="5676718" h="2153601">
                <a:moveTo>
                  <a:pt x="0" y="0"/>
                </a:moveTo>
                <a:lnTo>
                  <a:pt x="5676718" y="0"/>
                </a:lnTo>
                <a:lnTo>
                  <a:pt x="567671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914262" y="8156181"/>
            <a:ext cx="2485501" cy="125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 spc="-33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TSP is NP-hard</a:t>
            </a:r>
          </a:p>
          <a:p>
            <a:pPr algn="l">
              <a:lnSpc>
                <a:spcPts val="2025"/>
              </a:lnSpc>
            </a:pPr>
            <a:endParaRPr lang="en-US" sz="1687" b="1" spc="-33">
              <a:solidFill>
                <a:srgbClr val="F8F8F8"/>
              </a:solidFill>
              <a:latin typeface="Helios Condensed Bold"/>
              <a:ea typeface="Helios Condensed Bold"/>
              <a:cs typeface="Helios Condensed Bold"/>
              <a:sym typeface="Helios Condensed Bold"/>
            </a:endParaRPr>
          </a:p>
          <a:p>
            <a:pPr algn="l">
              <a:lnSpc>
                <a:spcPts val="2025"/>
              </a:lnSpc>
            </a:pPr>
            <a:r>
              <a:rPr lang="en-US" sz="1687" spc="-33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Dynamic Programming and</a:t>
            </a:r>
          </a:p>
          <a:p>
            <a:pPr algn="l">
              <a:lnSpc>
                <a:spcPts val="2025"/>
              </a:lnSpc>
            </a:pPr>
            <a:r>
              <a:rPr lang="en-US" sz="1687" spc="-33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Branch and Bound are used to</a:t>
            </a:r>
          </a:p>
          <a:p>
            <a:pPr algn="l">
              <a:lnSpc>
                <a:spcPts val="2025"/>
              </a:lnSpc>
            </a:pPr>
            <a:r>
              <a:rPr lang="en-US" sz="1687" spc="-33">
                <a:solidFill>
                  <a:srgbClr val="F8F8F8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manage complexity in practice.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4039" y="3402006"/>
            <a:ext cx="2893219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1CA1C2"/>
                </a:solidFill>
                <a:latin typeface="Roboto Bold"/>
                <a:ea typeface="Roboto Bold"/>
                <a:cs typeface="Roboto Bold"/>
                <a:sym typeface="Roboto Bold"/>
              </a:rPr>
              <a:t>TECH STACK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1930" y="6519600"/>
            <a:ext cx="2893219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1CA1C2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51930" y="4667117"/>
            <a:ext cx="2893219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1CA1C2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30" y="8372084"/>
            <a:ext cx="2893219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1CA1C2"/>
                </a:solidFill>
                <a:latin typeface="Roboto Bold"/>
                <a:ea typeface="Roboto Bold"/>
                <a:cs typeface="Roboto Bold"/>
                <a:sym typeface="Roboto Bold"/>
              </a:rPr>
              <a:t>API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70220" y="6354417"/>
            <a:ext cx="213909" cy="518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0"/>
              </a:lnSpc>
            </a:pPr>
            <a:r>
              <a:rPr lang="en-US" sz="3291" b="1" spc="-65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70220" y="8297266"/>
            <a:ext cx="213909" cy="518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0"/>
              </a:lnSpc>
            </a:pPr>
            <a:r>
              <a:rPr lang="en-US" sz="3291" b="1" spc="-65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4859" y="665902"/>
            <a:ext cx="5807860" cy="92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 spc="-136">
                <a:solidFill>
                  <a:srgbClr val="F6F6F6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DEMO &amp; </a:t>
            </a:r>
            <a:r>
              <a:rPr lang="en-US" sz="6800" b="1" spc="-136">
                <a:solidFill>
                  <a:srgbClr val="26A6BE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8439" y="1607718"/>
            <a:ext cx="7449875" cy="32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See the optimizer in action and the value it delivers.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142670"/>
            <a:ext cx="5676718" cy="4503979"/>
          </a:xfrm>
          <a:custGeom>
            <a:avLst/>
            <a:gdLst/>
            <a:ahLst/>
            <a:cxnLst/>
            <a:rect l="l" t="t" r="r" b="b"/>
            <a:pathLst>
              <a:path w="5676718" h="4503979">
                <a:moveTo>
                  <a:pt x="0" y="0"/>
                </a:moveTo>
                <a:lnTo>
                  <a:pt x="5676718" y="0"/>
                </a:lnTo>
                <a:lnTo>
                  <a:pt x="5676718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68376" y="2582795"/>
            <a:ext cx="1566259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38">
                <a:solidFill>
                  <a:srgbClr val="F6F6F6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Plan Your Trip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3421712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12208" y="3600446"/>
            <a:ext cx="577611" cy="132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125" b="1" spc="-22">
                <a:solidFill>
                  <a:srgbClr val="949494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Mumbai</a:t>
            </a:r>
          </a:p>
          <a:p>
            <a:pPr algn="l">
              <a:lnSpc>
                <a:spcPts val="2137"/>
              </a:lnSpc>
            </a:pPr>
            <a:r>
              <a:rPr lang="en-US" sz="1125" b="1" spc="-22">
                <a:solidFill>
                  <a:srgbClr val="949494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Delhi</a:t>
            </a:r>
          </a:p>
          <a:p>
            <a:pPr algn="l">
              <a:lnSpc>
                <a:spcPts val="2137"/>
              </a:lnSpc>
            </a:pPr>
            <a:r>
              <a:rPr lang="en-US" sz="1125" b="1" spc="-22">
                <a:solidFill>
                  <a:srgbClr val="949494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Jaipur</a:t>
            </a:r>
          </a:p>
          <a:p>
            <a:pPr algn="l">
              <a:lnSpc>
                <a:spcPts val="2137"/>
              </a:lnSpc>
            </a:pPr>
            <a:r>
              <a:rPr lang="en-US" sz="1125" b="1" spc="-22">
                <a:solidFill>
                  <a:srgbClr val="949494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Agra</a:t>
            </a:r>
          </a:p>
          <a:p>
            <a:pPr algn="l">
              <a:lnSpc>
                <a:spcPts val="2137"/>
              </a:lnSpc>
            </a:pPr>
            <a:r>
              <a:rPr lang="en-US" sz="1125" b="1" spc="-22">
                <a:solidFill>
                  <a:srgbClr val="949494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Mumbai</a:t>
            </a:r>
          </a:p>
        </p:txBody>
      </p:sp>
      <p:sp>
        <p:nvSpPr>
          <p:cNvPr id="9" name="Freeform 9"/>
          <p:cNvSpPr/>
          <p:nvPr/>
        </p:nvSpPr>
        <p:spPr>
          <a:xfrm>
            <a:off x="3259464" y="3640352"/>
            <a:ext cx="2843828" cy="655919"/>
          </a:xfrm>
          <a:custGeom>
            <a:avLst/>
            <a:gdLst/>
            <a:ahLst/>
            <a:cxnLst/>
            <a:rect l="l" t="t" r="r" b="b"/>
            <a:pathLst>
              <a:path w="2843828" h="655919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59464" y="4285339"/>
            <a:ext cx="2843828" cy="644987"/>
          </a:xfrm>
          <a:custGeom>
            <a:avLst/>
            <a:gdLst/>
            <a:ahLst/>
            <a:cxnLst/>
            <a:rect l="l" t="t" r="r" b="b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259464" y="4919394"/>
            <a:ext cx="2843828" cy="655919"/>
          </a:xfrm>
          <a:custGeom>
            <a:avLst/>
            <a:gdLst/>
            <a:ahLst/>
            <a:cxnLst/>
            <a:rect l="l" t="t" r="r" b="b"/>
            <a:pathLst>
              <a:path w="2843828" h="655919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20354" y="5783021"/>
            <a:ext cx="3707914" cy="655919"/>
          </a:xfrm>
          <a:custGeom>
            <a:avLst/>
            <a:gdLst/>
            <a:ahLst/>
            <a:cxnLst/>
            <a:rect l="l" t="t" r="r" b="b"/>
            <a:pathLst>
              <a:path w="3707914" h="655919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12998" y="5957958"/>
            <a:ext cx="1387534" cy="23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335" spc="-13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Optimize itinerary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528" y="6717145"/>
            <a:ext cx="3966692" cy="33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1" spc="-19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1. Input your cities and constraints</a:t>
            </a:r>
          </a:p>
        </p:txBody>
      </p:sp>
      <p:sp>
        <p:nvSpPr>
          <p:cNvPr id="15" name="Freeform 15"/>
          <p:cNvSpPr/>
          <p:nvPr/>
        </p:nvSpPr>
        <p:spPr>
          <a:xfrm>
            <a:off x="6311110" y="2142670"/>
            <a:ext cx="5447024" cy="4503979"/>
          </a:xfrm>
          <a:custGeom>
            <a:avLst/>
            <a:gdLst/>
            <a:ahLst/>
            <a:cxnLst/>
            <a:rect l="l" t="t" r="r" b="b"/>
            <a:pathLst>
              <a:path w="5447024" h="4503979">
                <a:moveTo>
                  <a:pt x="0" y="0"/>
                </a:moveTo>
                <a:lnTo>
                  <a:pt x="5447024" y="0"/>
                </a:lnTo>
                <a:lnTo>
                  <a:pt x="5447024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619890" y="2582795"/>
            <a:ext cx="2379771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38">
                <a:solidFill>
                  <a:srgbClr val="F6F6F6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Optimized Route Map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12708" y="2995365"/>
            <a:ext cx="2406316" cy="3224936"/>
          </a:xfrm>
          <a:custGeom>
            <a:avLst/>
            <a:gdLst/>
            <a:ahLst/>
            <a:cxnLst/>
            <a:rect l="l" t="t" r="r" b="b"/>
            <a:pathLst>
              <a:path w="2406316" h="3224936">
                <a:moveTo>
                  <a:pt x="0" y="0"/>
                </a:moveTo>
                <a:lnTo>
                  <a:pt x="2406316" y="0"/>
                </a:lnTo>
                <a:lnTo>
                  <a:pt x="240631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970087" y="3254997"/>
            <a:ext cx="424893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29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Delhi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30730" y="6717145"/>
            <a:ext cx="3974697" cy="33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1" spc="-19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2. View optimized itinerary on map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747196" y="2142670"/>
            <a:ext cx="6114230" cy="4503979"/>
          </a:xfrm>
          <a:custGeom>
            <a:avLst/>
            <a:gdLst/>
            <a:ahLst/>
            <a:cxnLst/>
            <a:rect l="l" t="t" r="r" b="b"/>
            <a:pathLst>
              <a:path w="6114230" h="4503979">
                <a:moveTo>
                  <a:pt x="0" y="0"/>
                </a:moveTo>
                <a:lnTo>
                  <a:pt x="6114230" y="0"/>
                </a:lnTo>
                <a:lnTo>
                  <a:pt x="6114230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198630" y="2582795"/>
            <a:ext cx="1718251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38">
                <a:solidFill>
                  <a:srgbClr val="F6F6F6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Itinerary Output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15489" y="4510806"/>
            <a:ext cx="583153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Jaipur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71804" y="4510806"/>
            <a:ext cx="511780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2,800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83334" y="6717145"/>
            <a:ext cx="3963515" cy="33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1" spc="-19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3. Review order, cost, and duration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5330" y="7280704"/>
            <a:ext cx="17216096" cy="229572"/>
          </a:xfrm>
          <a:custGeom>
            <a:avLst/>
            <a:gdLst/>
            <a:ahLst/>
            <a:cxnLst/>
            <a:rect l="l" t="t" r="r" b="b"/>
            <a:pathLst>
              <a:path w="17216096" h="229572">
                <a:moveTo>
                  <a:pt x="0" y="0"/>
                </a:moveTo>
                <a:lnTo>
                  <a:pt x="17216096" y="0"/>
                </a:lnTo>
                <a:lnTo>
                  <a:pt x="1721609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436086" y="7707051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747196" y="7707051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20416" y="7741282"/>
            <a:ext cx="2967809" cy="33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1" spc="-19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PERFORMANCE HIGHLIGHTS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8335" y="8252856"/>
            <a:ext cx="4175897" cy="70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19">
                <a:solidFill>
                  <a:srgbClr val="8F939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Branch and Bound pruning reduced</a:t>
            </a:r>
          </a:p>
          <a:p>
            <a:pPr algn="l">
              <a:lnSpc>
                <a:spcPts val="2867"/>
              </a:lnSpc>
            </a:pPr>
            <a:r>
              <a:rPr lang="en-US" sz="2047" spc="-19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search space by </a:t>
            </a:r>
            <a:r>
              <a:rPr lang="en-US" sz="2047" b="1" spc="-19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~60%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2246" y="9156507"/>
            <a:ext cx="2784820" cy="70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19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DP stored subresults to</a:t>
            </a:r>
          </a:p>
          <a:p>
            <a:pPr algn="l">
              <a:lnSpc>
                <a:spcPts val="2867"/>
              </a:lnSpc>
            </a:pPr>
            <a:r>
              <a:rPr lang="en-US" sz="2047" spc="-19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avoid recomputation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63062" y="7741282"/>
            <a:ext cx="1805514" cy="33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1" spc="-19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SAMPLE OUTPUT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28819" y="8269416"/>
            <a:ext cx="5229791" cy="92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291" b="1" spc="-32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Mumbai → Delhi → Jaipur → Agra → Mumbai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00099" y="7741282"/>
            <a:ext cx="2286976" cy="33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1" spc="-19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PRACTICAL BENEFITS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22969" y="8754174"/>
            <a:ext cx="5197078" cy="3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22">
                <a:solidFill>
                  <a:srgbClr val="F7F7F7"/>
                </a:solidFill>
                <a:latin typeface="Roboto"/>
                <a:ea typeface="Roboto"/>
                <a:cs typeface="Roboto"/>
                <a:sym typeface="Roboto"/>
              </a:rPr>
              <a:t>Enhances trip planning confidence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41658" y="3115684"/>
            <a:ext cx="809968" cy="18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spc="-26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Visit Order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18383" y="3115684"/>
            <a:ext cx="293693" cy="18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spc="-26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City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263654" y="3115684"/>
            <a:ext cx="611122" cy="18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spc="-26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Cost (₹)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629417" y="3115684"/>
            <a:ext cx="659125" cy="18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spc="-26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Duration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9118" y="3180432"/>
            <a:ext cx="492073" cy="17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8"/>
              </a:lnSpc>
            </a:pPr>
            <a:r>
              <a:rPr lang="en-US" sz="1388" b="1" spc="-27">
                <a:solidFill>
                  <a:srgbClr val="F6F6F6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Cities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65429" y="3180432"/>
            <a:ext cx="999307" cy="17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8"/>
              </a:lnSpc>
            </a:pPr>
            <a:r>
              <a:rPr lang="en-US" sz="1388" b="1" spc="-27">
                <a:solidFill>
                  <a:srgbClr val="F6F6F6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Constraints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363523" y="3527570"/>
            <a:ext cx="1189890" cy="16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22">
                <a:solidFill>
                  <a:srgbClr val="949494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Trip Duration (itbsi)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375364" y="3577034"/>
            <a:ext cx="118317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413611" y="3577034"/>
            <a:ext cx="770930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Mumbai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509477" y="3577034"/>
            <a:ext cx="139015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–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902508" y="3577034"/>
            <a:ext cx="139015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81494" y="3827309"/>
            <a:ext cx="108449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29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90272" y="3992978"/>
            <a:ext cx="534515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29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Jaipur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41825" y="4024578"/>
            <a:ext cx="388600" cy="16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124" spc="-22">
                <a:solidFill>
                  <a:srgbClr val="949494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Jaipur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375364" y="4043920"/>
            <a:ext cx="118317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416685" y="4043920"/>
            <a:ext cx="46355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Delhi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371804" y="4043920"/>
            <a:ext cx="511780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3,200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874738" y="4043920"/>
            <a:ext cx="237168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1d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68937" y="4220368"/>
            <a:ext cx="648448" cy="16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22">
                <a:solidFill>
                  <a:srgbClr val="949494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Budget (€)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988284" y="4309256"/>
            <a:ext cx="403675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29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Agra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874808" y="4421881"/>
            <a:ext cx="230166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1d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375364" y="4510806"/>
            <a:ext cx="118317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>
                <a:solidFill>
                  <a:srgbClr val="F6F6F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77556" y="4481996"/>
            <a:ext cx="502248" cy="23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13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15000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369739" y="4875327"/>
            <a:ext cx="568239" cy="1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spc="-10">
                <a:solidFill>
                  <a:srgbClr val="8F9396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Start City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321820" y="4903828"/>
            <a:ext cx="114829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417040" y="4903828"/>
            <a:ext cx="428017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Agra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371941" y="4903828"/>
            <a:ext cx="498133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2,000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6874808" y="4903828"/>
            <a:ext cx="230166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1d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476043" y="5174795"/>
            <a:ext cx="653546" cy="23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13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Mumbai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321820" y="5370714"/>
            <a:ext cx="114829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413849" y="5370714"/>
            <a:ext cx="747100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Mumbai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5371941" y="5370714"/>
            <a:ext cx="498133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4,500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6874808" y="5370714"/>
            <a:ext cx="230166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spc="-15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1d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030183" y="5747107"/>
            <a:ext cx="653546" cy="23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13">
                <a:solidFill>
                  <a:srgbClr val="F7F7F7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Mumbai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318235" y="5852661"/>
            <a:ext cx="473338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b="1" spc="-15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Total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263409" y="5852661"/>
            <a:ext cx="635623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b="1" spc="-15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12,500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6710382" y="5852661"/>
            <a:ext cx="599345" cy="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 b="1" spc="-15">
                <a:solidFill>
                  <a:srgbClr val="25A6B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5 days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322969" y="8242105"/>
            <a:ext cx="5197078" cy="3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22">
                <a:solidFill>
                  <a:srgbClr val="F7F7F7"/>
                </a:solidFill>
                <a:latin typeface="Roboto"/>
                <a:ea typeface="Roboto"/>
                <a:cs typeface="Roboto"/>
                <a:sym typeface="Roboto"/>
              </a:rPr>
              <a:t>Saves travel cost and time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322969" y="9311425"/>
            <a:ext cx="5197078" cy="3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22">
                <a:solidFill>
                  <a:srgbClr val="F7F7F7"/>
                </a:solidFill>
                <a:latin typeface="Roboto"/>
                <a:ea typeface="Roboto"/>
                <a:cs typeface="Roboto"/>
                <a:sym typeface="Roboto"/>
              </a:rPr>
              <a:t>Scalable to moderate city counts (5-15)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081117" y="9341547"/>
            <a:ext cx="5357812" cy="3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22">
                <a:solidFill>
                  <a:srgbClr val="F7F7F7"/>
                </a:solidFill>
                <a:latin typeface="Roboto"/>
                <a:ea typeface="Roboto"/>
                <a:cs typeface="Roboto"/>
                <a:sym typeface="Roboto"/>
              </a:rPr>
              <a:t>Total cost: </a:t>
            </a:r>
            <a:r>
              <a:rPr lang="en-US" sz="2254" b="1" spc="-22">
                <a:solidFill>
                  <a:srgbClr val="25A6BF"/>
                </a:solidFill>
                <a:latin typeface="Roboto Bold"/>
                <a:ea typeface="Roboto Bold"/>
                <a:cs typeface="Roboto Bold"/>
                <a:sym typeface="Roboto Bold"/>
              </a:rPr>
              <a:t>₹12,500</a:t>
            </a:r>
            <a:r>
              <a:rPr lang="en-US" sz="2254" spc="-22">
                <a:solidFill>
                  <a:srgbClr val="F7F7F7"/>
                </a:solidFill>
                <a:latin typeface="Roboto"/>
                <a:ea typeface="Roboto"/>
                <a:cs typeface="Roboto"/>
                <a:sym typeface="Roboto"/>
              </a:rPr>
              <a:t>   |   Duration: </a:t>
            </a:r>
            <a:r>
              <a:rPr lang="en-US" sz="2254" b="1" spc="-22">
                <a:solidFill>
                  <a:srgbClr val="25A6BF"/>
                </a:solidFill>
                <a:latin typeface="Roboto Bold"/>
                <a:ea typeface="Roboto Bold"/>
                <a:cs typeface="Roboto Bold"/>
                <a:sym typeface="Roboto Bold"/>
              </a:rPr>
              <a:t>5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travel itinerary optimization dashboard, where users input their starting city, number of cities to visit, and travel duration, followed by a cost matrix for travel costs between selected cities.&#10;&#10;AI-generated content may be incorrect.">
            <a:extLst>
              <a:ext uri="{FF2B5EF4-FFF2-40B4-BE49-F238E27FC236}">
                <a16:creationId xmlns:a16="http://schemas.microsoft.com/office/drawing/2014/main" id="{02EF08FA-4CB0-5CDE-D772-EE67B9CDC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90500"/>
            <a:ext cx="10226988" cy="5410199"/>
          </a:xfrm>
          <a:prstGeom prst="rect">
            <a:avLst/>
          </a:prstGeom>
        </p:spPr>
      </p:pic>
      <p:pic>
        <p:nvPicPr>
          <p:cNvPr id="5" name="Picture 4" descr="The image displays a user interface for a travel itinerary optimization tool, showcasing multiple cities, travel durations, and costs, with a final optimized route that meets the specified maximum duration constraint.&#10;&#10;AI-generated content may be incorrect.">
            <a:extLst>
              <a:ext uri="{FF2B5EF4-FFF2-40B4-BE49-F238E27FC236}">
                <a16:creationId xmlns:a16="http://schemas.microsoft.com/office/drawing/2014/main" id="{4A93C61A-07DC-8471-0C23-9E27C4CDC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599" y="4305299"/>
            <a:ext cx="10820399" cy="581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2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graphical representation of an optimized travel itinerary, showing a route from Hyderabad to Mumbai via Bangalore and Dell, with estimated travel times.&#10;&#10;AI-generated content may be incorrect.">
            <a:extLst>
              <a:ext uri="{FF2B5EF4-FFF2-40B4-BE49-F238E27FC236}">
                <a16:creationId xmlns:a16="http://schemas.microsoft.com/office/drawing/2014/main" id="{5030B0BD-7D9B-212F-C6A9-1A832D5C6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04900"/>
            <a:ext cx="11887200" cy="857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7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2633158" cy="10287000"/>
          </a:xfrm>
          <a:custGeom>
            <a:avLst/>
            <a:gdLst/>
            <a:ahLst/>
            <a:cxnLst/>
            <a:rect l="l" t="t" r="r" b="b"/>
            <a:pathLst>
              <a:path w="12633158" h="10287000">
                <a:moveTo>
                  <a:pt x="0" y="0"/>
                </a:moveTo>
                <a:lnTo>
                  <a:pt x="12633158" y="0"/>
                </a:lnTo>
                <a:lnTo>
                  <a:pt x="12633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87732" y="0"/>
            <a:ext cx="4145426" cy="10287000"/>
          </a:xfrm>
          <a:custGeom>
            <a:avLst/>
            <a:gdLst/>
            <a:ahLst/>
            <a:cxnLst/>
            <a:rect l="l" t="t" r="r" b="b"/>
            <a:pathLst>
              <a:path w="4145426" h="10287000">
                <a:moveTo>
                  <a:pt x="0" y="0"/>
                </a:moveTo>
                <a:lnTo>
                  <a:pt x="4145426" y="0"/>
                </a:lnTo>
                <a:lnTo>
                  <a:pt x="41454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37556" y="858237"/>
            <a:ext cx="8574876" cy="114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0"/>
              </a:lnSpc>
            </a:pPr>
            <a:r>
              <a:rPr lang="en-US" sz="8630" b="1" spc="-172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FUTURE VISION &amp;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0268" y="1937278"/>
            <a:ext cx="6661515" cy="147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91"/>
              </a:lnSpc>
            </a:pPr>
            <a:r>
              <a:rPr lang="en-US" sz="10891" b="1" spc="-218">
                <a:solidFill>
                  <a:srgbClr val="22A6BD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3421712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41365" y="3833722"/>
            <a:ext cx="6230640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23">
                <a:solidFill>
                  <a:srgbClr val="22A6BD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Current achievement:</a:t>
            </a:r>
            <a:r>
              <a:rPr lang="en-US" sz="2443" spc="23">
                <a:solidFill>
                  <a:srgbClr val="FFFFFF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 functional prototype </a:t>
            </a:r>
          </a:p>
          <a:p>
            <a:pPr algn="l">
              <a:lnSpc>
                <a:spcPts val="2932"/>
              </a:lnSpc>
            </a:pPr>
            <a:r>
              <a:rPr lang="en-US" sz="2443" spc="23">
                <a:solidFill>
                  <a:srgbClr val="FFFFFF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integrating algorithms and UI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026" y="4857859"/>
            <a:ext cx="6664547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23">
                <a:solidFill>
                  <a:srgbClr val="22A6BD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Future improvements:</a:t>
            </a:r>
            <a:r>
              <a:rPr lang="en-US" sz="2443" spc="23">
                <a:solidFill>
                  <a:srgbClr val="FFFFFF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 real-time data, </a:t>
            </a:r>
          </a:p>
          <a:p>
            <a:pPr algn="l">
              <a:lnSpc>
                <a:spcPts val="2932"/>
              </a:lnSpc>
            </a:pPr>
            <a:r>
              <a:rPr lang="en-US" sz="2443" spc="23">
                <a:solidFill>
                  <a:srgbClr val="FFFFFF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multi-modal transport, and smarter algorithms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7431" y="5866936"/>
            <a:ext cx="6624105" cy="7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 spc="25">
                <a:solidFill>
                  <a:srgbClr val="22A6BD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Scalability:</a:t>
            </a:r>
            <a:r>
              <a:rPr lang="en-US" sz="2575" spc="25">
                <a:solidFill>
                  <a:srgbClr val="FFFFFF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 built to optimize larger city sets </a:t>
            </a:r>
          </a:p>
          <a:p>
            <a:pPr algn="l">
              <a:lnSpc>
                <a:spcPts val="3090"/>
              </a:lnSpc>
            </a:pPr>
            <a:r>
              <a:rPr lang="en-US" sz="2575" spc="25">
                <a:solidFill>
                  <a:srgbClr val="FFFFFF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with hybrid approaches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3099" y="6906134"/>
            <a:ext cx="7057317" cy="7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 spc="25">
                <a:solidFill>
                  <a:srgbClr val="22A6BD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Our promise:</a:t>
            </a:r>
            <a:r>
              <a:rPr lang="en-US" sz="2575" spc="25">
                <a:solidFill>
                  <a:srgbClr val="FFFFFF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 a smart, user-friendly tool to plan cost-efficient trips under time constraints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7925691"/>
            <a:ext cx="1542230" cy="218640"/>
          </a:xfrm>
          <a:custGeom>
            <a:avLst/>
            <a:gdLst/>
            <a:ahLst/>
            <a:cxnLst/>
            <a:rect l="l" t="t" r="r" b="b"/>
            <a:pathLst>
              <a:path w="1542230" h="218640">
                <a:moveTo>
                  <a:pt x="0" y="0"/>
                </a:moveTo>
                <a:lnTo>
                  <a:pt x="1542230" y="0"/>
                </a:lnTo>
                <a:lnTo>
                  <a:pt x="154223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76705" y="8212436"/>
            <a:ext cx="2696685" cy="617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847" b="1" spc="37">
                <a:solidFill>
                  <a:srgbClr val="22A6BD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THANK YOU!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6950" y="8794274"/>
            <a:ext cx="6672176" cy="483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1" spc="30">
                <a:solidFill>
                  <a:srgbClr val="F8F8F8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QUESTIONS AND FEEDBACK WELCOME.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9424" y="9345990"/>
            <a:ext cx="3424759" cy="38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25">
                <a:solidFill>
                  <a:srgbClr val="22A6BD"/>
                </a:solidFill>
                <a:latin typeface="Helios Condensed"/>
                <a:ea typeface="Helios Condensed"/>
                <a:cs typeface="Helios Condensed"/>
                <a:sym typeface="Helios Condensed"/>
              </a:rPr>
              <a:t>team@hackathon.com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606</Words>
  <Application>Microsoft Office PowerPoint</Application>
  <PresentationFormat>Custom</PresentationFormat>
  <Paragraphs>197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Bold</vt:lpstr>
      <vt:lpstr>Helios Condensed</vt:lpstr>
      <vt:lpstr>Calibri</vt:lpstr>
      <vt:lpstr>Arial</vt:lpstr>
      <vt:lpstr>Roboto</vt:lpstr>
      <vt:lpstr>Helios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Itinerary Optimizer</dc:title>
  <dc:creator>Vennela Reddy</dc:creator>
  <cp:lastModifiedBy>Lohitha Reddy</cp:lastModifiedBy>
  <cp:revision>2</cp:revision>
  <dcterms:created xsi:type="dcterms:W3CDTF">2006-08-16T00:00:00Z</dcterms:created>
  <dcterms:modified xsi:type="dcterms:W3CDTF">2026-10-03T06:29:08Z</dcterms:modified>
  <dc:identifier>DAHW7aHN38I</dc:identifier>
</cp:coreProperties>
</file>